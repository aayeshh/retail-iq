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Libre Baskerville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ibreBaskerville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Baskerville-italic.fntdata"/><Relationship Id="rId25" Type="http://schemas.openxmlformats.org/officeDocument/2006/relationships/font" Target="fonts/LibreBaskerville-bold.fntdata"/><Relationship Id="rId28" Type="http://schemas.openxmlformats.org/officeDocument/2006/relationships/font" Target="fonts/DMSans-regular.fntdata"/><Relationship Id="rId27" Type="http://schemas.openxmlformats.org/officeDocument/2006/relationships/font" Target="fonts/LibreBaskervill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7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60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8.png"/><Relationship Id="rId4" Type="http://schemas.openxmlformats.org/officeDocument/2006/relationships/image" Target="../media/image69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7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/>
          <p:nvPr/>
        </p:nvSpPr>
        <p:spPr>
          <a:xfrm>
            <a:off x="6280190" y="2028111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RetailIQ: Smart Retail Demand Forecasting and Analytics System</a:t>
            </a:r>
            <a:endParaRPr b="0" i="0" sz="4450" u="none" cap="none" strike="noStrike"/>
          </a:p>
        </p:txBody>
      </p:sp>
      <p:sp>
        <p:nvSpPr>
          <p:cNvPr id="95" name="Google Shape;95;p22"/>
          <p:cNvSpPr/>
          <p:nvPr/>
        </p:nvSpPr>
        <p:spPr>
          <a:xfrm>
            <a:off x="6280190" y="4494609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Web-based retail intelligence platform that combines machine learning, interactive dashboards, and actionable recommendations to help retailers forecast demand and optimize decisions.</a:t>
            </a:r>
            <a:endParaRPr b="0" i="0" sz="1750" u="none" cap="none" strike="noStrike"/>
          </a:p>
        </p:txBody>
      </p:sp>
      <p:sp>
        <p:nvSpPr>
          <p:cNvPr id="96" name="Google Shape;96;p22"/>
          <p:cNvSpPr/>
          <p:nvPr/>
        </p:nvSpPr>
        <p:spPr>
          <a:xfrm>
            <a:off x="6280190" y="583846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Ayesha Khalid | Uma E Rubab </a:t>
            </a:r>
            <a:endParaRPr b="0" i="0" sz="1750" u="none" cap="none" strike="noStrike"/>
          </a:p>
        </p:txBody>
      </p:sp>
      <p:pic>
        <p:nvPicPr>
          <p:cNvPr id="97" name="Google Shape;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6350" y="7532351"/>
            <a:ext cx="1842275" cy="5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/>
        </p:nvSpPr>
        <p:spPr>
          <a:xfrm>
            <a:off x="793790" y="2097643"/>
            <a:ext cx="465165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50"/>
              <a:buFont typeface="Libre Baskerville"/>
              <a:buNone/>
            </a:pPr>
            <a:r>
              <a:rPr b="0" i="0" lang="en-US" sz="35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RetailIQ Does</a:t>
            </a:r>
            <a:endParaRPr b="0" i="0" sz="3550" u="none" cap="none" strike="noStrike"/>
          </a:p>
        </p:txBody>
      </p:sp>
      <p:pic>
        <p:nvPicPr>
          <p:cNvPr descr="preencoded.png" id="104" name="Google Shape;1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118247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/>
          <p:nvPr/>
        </p:nvSpPr>
        <p:spPr>
          <a:xfrm>
            <a:off x="1961197" y="3118247"/>
            <a:ext cx="188059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Sales Forecasting</a:t>
            </a:r>
            <a:endParaRPr b="0" i="0" sz="2200" u="none" cap="none" strike="noStrike"/>
          </a:p>
        </p:txBody>
      </p:sp>
      <p:sp>
        <p:nvSpPr>
          <p:cNvPr id="106" name="Google Shape;106;p23"/>
          <p:cNvSpPr/>
          <p:nvPr/>
        </p:nvSpPr>
        <p:spPr>
          <a:xfrm>
            <a:off x="1961197" y="3962995"/>
            <a:ext cx="188059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ML-powered demand predictions at SKU and store level.</a:t>
            </a:r>
            <a:endParaRPr b="0" i="0" sz="1750" u="none" cap="none" strike="noStrike"/>
          </a:p>
        </p:txBody>
      </p:sp>
      <p:pic>
        <p:nvPicPr>
          <p:cNvPr descr="preencoded.png" id="107" name="Google Shape;1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278" y="3118247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/>
          <p:nvPr/>
        </p:nvSpPr>
        <p:spPr>
          <a:xfrm>
            <a:off x="5292685" y="3118247"/>
            <a:ext cx="188071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Dashboard</a:t>
            </a:r>
            <a:endParaRPr b="0" i="0" sz="2200" u="none" cap="none" strike="noStrike"/>
          </a:p>
        </p:txBody>
      </p:sp>
      <p:sp>
        <p:nvSpPr>
          <p:cNvPr id="109" name="Google Shape;109;p23"/>
          <p:cNvSpPr/>
          <p:nvPr/>
        </p:nvSpPr>
        <p:spPr>
          <a:xfrm>
            <a:off x="5292685" y="3962995"/>
            <a:ext cx="188071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 charts, trend views, and KPI summaries for quick insights.</a:t>
            </a:r>
            <a:endParaRPr b="0" i="0" sz="1750" u="none" cap="none" strike="noStrike"/>
          </a:p>
        </p:txBody>
      </p:sp>
      <p:pic>
        <p:nvPicPr>
          <p:cNvPr descr="preencoded.png" id="110" name="Google Shape;1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6884" y="3118247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/>
          <p:nvPr/>
        </p:nvSpPr>
        <p:spPr>
          <a:xfrm>
            <a:off x="8624292" y="3118247"/>
            <a:ext cx="1880711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Actionable Recommendations</a:t>
            </a:r>
            <a:endParaRPr b="0" i="0" sz="2200" u="none" cap="none" strike="noStrike"/>
          </a:p>
        </p:txBody>
      </p:sp>
      <p:sp>
        <p:nvSpPr>
          <p:cNvPr id="112" name="Google Shape;112;p23"/>
          <p:cNvSpPr/>
          <p:nvPr/>
        </p:nvSpPr>
        <p:spPr>
          <a:xfrm>
            <a:off x="8624292" y="4317325"/>
            <a:ext cx="188071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Promotion and stocking suggestions to reduce stockouts and overstocks.</a:t>
            </a:r>
            <a:endParaRPr b="0" i="0" sz="1750" u="none" cap="none" strike="noStrike"/>
          </a:p>
        </p:txBody>
      </p:sp>
      <p:pic>
        <p:nvPicPr>
          <p:cNvPr descr="preencoded.png" id="113" name="Google Shape;1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491" y="3118247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/>
          <p:nvPr/>
        </p:nvSpPr>
        <p:spPr>
          <a:xfrm>
            <a:off x="11955899" y="3118247"/>
            <a:ext cx="188071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Centralized Analytics</a:t>
            </a:r>
            <a:endParaRPr b="0" i="0" sz="2200" u="none" cap="none" strike="noStrike"/>
          </a:p>
        </p:txBody>
      </p:sp>
      <p:sp>
        <p:nvSpPr>
          <p:cNvPr id="115" name="Google Shape;115;p23"/>
          <p:cNvSpPr/>
          <p:nvPr/>
        </p:nvSpPr>
        <p:spPr>
          <a:xfrm>
            <a:off x="11955899" y="3962995"/>
            <a:ext cx="188071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Unified store, sales, and feedback data for cross-cutting analysis.</a:t>
            </a:r>
            <a:endParaRPr b="0" i="0" sz="1750" u="none" cap="none" strike="noStrike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49675" y="7554825"/>
            <a:ext cx="1880725" cy="59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/>
          <p:nvPr/>
        </p:nvSpPr>
        <p:spPr>
          <a:xfrm>
            <a:off x="793790" y="1133832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50"/>
              <a:buFont typeface="Libre Baskerville"/>
              <a:buNone/>
            </a:pPr>
            <a:r>
              <a:rPr b="0" i="0" lang="en-US" sz="35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Advantages</a:t>
            </a:r>
            <a:endParaRPr b="0" i="0" sz="3550" u="none" cap="none" strike="noStrike"/>
          </a:p>
        </p:txBody>
      </p:sp>
      <p:sp>
        <p:nvSpPr>
          <p:cNvPr id="123" name="Google Shape;123;p24"/>
          <p:cNvSpPr/>
          <p:nvPr/>
        </p:nvSpPr>
        <p:spPr>
          <a:xfrm>
            <a:off x="793790" y="30048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Accurate Forecasts</a:t>
            </a:r>
            <a:endParaRPr b="0" i="0" sz="2200" u="none" cap="none" strike="noStrike"/>
          </a:p>
        </p:txBody>
      </p:sp>
      <p:sp>
        <p:nvSpPr>
          <p:cNvPr id="124" name="Google Shape;124;p24"/>
          <p:cNvSpPr/>
          <p:nvPr/>
        </p:nvSpPr>
        <p:spPr>
          <a:xfrm>
            <a:off x="793790" y="3495318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Ensemble ML models tuned for seasonal and promotional patterns.</a:t>
            </a:r>
            <a:endParaRPr b="0" i="0" sz="1750" u="none" cap="none" strike="noStrike"/>
          </a:p>
        </p:txBody>
      </p:sp>
      <p:sp>
        <p:nvSpPr>
          <p:cNvPr id="125" name="Google Shape;125;p24"/>
          <p:cNvSpPr/>
          <p:nvPr/>
        </p:nvSpPr>
        <p:spPr>
          <a:xfrm>
            <a:off x="5235893" y="30048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Fast Insights</a:t>
            </a:r>
            <a:endParaRPr b="0" i="0" sz="2200" u="none" cap="none" strike="noStrike"/>
          </a:p>
        </p:txBody>
      </p:sp>
      <p:sp>
        <p:nvSpPr>
          <p:cNvPr id="126" name="Google Shape;126;p24"/>
          <p:cNvSpPr/>
          <p:nvPr/>
        </p:nvSpPr>
        <p:spPr>
          <a:xfrm>
            <a:off x="5235893" y="3495318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Interactive UI surfaces answers within seconds for decision-makers.</a:t>
            </a:r>
            <a:endParaRPr b="0" i="0" sz="1750" u="none" cap="none" strike="noStrike"/>
          </a:p>
        </p:txBody>
      </p:sp>
      <p:sp>
        <p:nvSpPr>
          <p:cNvPr id="127" name="Google Shape;127;p24"/>
          <p:cNvSpPr/>
          <p:nvPr/>
        </p:nvSpPr>
        <p:spPr>
          <a:xfrm>
            <a:off x="9677995" y="3004899"/>
            <a:ext cx="415861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Inventory &amp; Promotion Planning</a:t>
            </a:r>
            <a:endParaRPr b="0" i="0" sz="2200" u="none" cap="none" strike="noStrike"/>
          </a:p>
        </p:txBody>
      </p:sp>
      <p:sp>
        <p:nvSpPr>
          <p:cNvPr id="128" name="Google Shape;128;p24"/>
          <p:cNvSpPr/>
          <p:nvPr/>
        </p:nvSpPr>
        <p:spPr>
          <a:xfrm>
            <a:off x="9677995" y="3849648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Forecast-driven restock and promo suggestions reduce waste.</a:t>
            </a:r>
            <a:endParaRPr b="0" i="0" sz="1750" u="none" cap="none" strike="noStrike"/>
          </a:p>
        </p:txBody>
      </p:sp>
      <p:sp>
        <p:nvSpPr>
          <p:cNvPr id="129" name="Google Shape;129;p24"/>
          <p:cNvSpPr/>
          <p:nvPr/>
        </p:nvSpPr>
        <p:spPr>
          <a:xfrm>
            <a:off x="793790" y="58795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User-Friendly</a:t>
            </a:r>
            <a:endParaRPr b="0" i="0" sz="2200" u="none" cap="none" strike="noStrike"/>
          </a:p>
        </p:txBody>
      </p:sp>
      <p:sp>
        <p:nvSpPr>
          <p:cNvPr id="130" name="Google Shape;130;p24"/>
          <p:cNvSpPr/>
          <p:nvPr/>
        </p:nvSpPr>
        <p:spPr>
          <a:xfrm>
            <a:off x="793790" y="6369963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Designed for non-technical users with clear workflows and help text.</a:t>
            </a:r>
            <a:endParaRPr b="0" i="0" sz="1750" u="none" cap="none" strike="noStrike"/>
          </a:p>
        </p:txBody>
      </p:sp>
      <p:sp>
        <p:nvSpPr>
          <p:cNvPr id="131" name="Google Shape;131;p24"/>
          <p:cNvSpPr/>
          <p:nvPr/>
        </p:nvSpPr>
        <p:spPr>
          <a:xfrm>
            <a:off x="5235893" y="58795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Centralized System</a:t>
            </a:r>
            <a:endParaRPr b="0" i="0" sz="2200" u="none" cap="none" strike="noStrike"/>
          </a:p>
        </p:txBody>
      </p:sp>
      <p:sp>
        <p:nvSpPr>
          <p:cNvPr id="132" name="Google Shape;132;p24"/>
          <p:cNvSpPr/>
          <p:nvPr/>
        </p:nvSpPr>
        <p:spPr>
          <a:xfrm>
            <a:off x="5235893" y="6369963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Single source of truth for cross-store analytics and reporting.</a:t>
            </a:r>
            <a:endParaRPr b="0" i="0" sz="1750" u="none" cap="none" strike="noStrike"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00" y="2220325"/>
            <a:ext cx="755487" cy="75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5836" y="2012523"/>
            <a:ext cx="963297" cy="96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5680" y="1820877"/>
            <a:ext cx="1047926" cy="104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801" y="4813900"/>
            <a:ext cx="963302" cy="963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5826" y="4916250"/>
            <a:ext cx="963302" cy="963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95424" y="7445599"/>
            <a:ext cx="2234973" cy="7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/>
          <p:nvPr/>
        </p:nvSpPr>
        <p:spPr>
          <a:xfrm>
            <a:off x="793790" y="2413873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50"/>
              <a:buFont typeface="Libre Baskerville"/>
              <a:buNone/>
            </a:pPr>
            <a:r>
              <a:rPr b="0" i="0" lang="en-US" sz="35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Constraints &amp; Risks</a:t>
            </a:r>
            <a:endParaRPr b="0" i="0" sz="3550" u="none" cap="none" strike="noStrike"/>
          </a:p>
        </p:txBody>
      </p:sp>
      <p:sp>
        <p:nvSpPr>
          <p:cNvPr id="147" name="Google Shape;147;p25"/>
          <p:cNvSpPr/>
          <p:nvPr/>
        </p:nvSpPr>
        <p:spPr>
          <a:xfrm>
            <a:off x="793790" y="3321010"/>
            <a:ext cx="7556421" cy="249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Dependent on dataset quality — noisy or biased data degrades forecasts.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Model performance may vary on unseen patterns (novel events).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Web-based access requires internet connectivity for users.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Limited real-time data integration — near-real-time, not streaming.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Scalability tied to infrastructure (compute, DB, and ML serving).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/>
          <p:nvPr/>
        </p:nvSpPr>
        <p:spPr>
          <a:xfrm>
            <a:off x="793790" y="2414111"/>
            <a:ext cx="8809077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50"/>
              <a:buFont typeface="Libre Baskerville"/>
              <a:buNone/>
            </a:pPr>
            <a:r>
              <a:rPr b="0" i="0" lang="en-US" sz="35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Non-Functional Requirements (NFRs)</a:t>
            </a:r>
            <a:endParaRPr b="0" i="0" sz="3550" u="none" cap="none" strike="noStrike"/>
          </a:p>
        </p:txBody>
      </p:sp>
      <p:sp>
        <p:nvSpPr>
          <p:cNvPr id="154" name="Google Shape;154;p26"/>
          <p:cNvSpPr/>
          <p:nvPr/>
        </p:nvSpPr>
        <p:spPr>
          <a:xfrm>
            <a:off x="793790" y="3774877"/>
            <a:ext cx="6407944" cy="2040493"/>
          </a:xfrm>
          <a:prstGeom prst="roundRect">
            <a:avLst>
              <a:gd fmla="val 7170" name="adj"/>
            </a:avLst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793790" y="3744397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3657540" y="343471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1051084" y="43418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Performance</a:t>
            </a:r>
            <a:endParaRPr b="0" i="0" sz="2200" u="none" cap="none" strike="noStrike"/>
          </a:p>
        </p:txBody>
      </p:sp>
      <p:sp>
        <p:nvSpPr>
          <p:cNvPr id="158" name="Google Shape;158;p26"/>
          <p:cNvSpPr/>
          <p:nvPr/>
        </p:nvSpPr>
        <p:spPr>
          <a:xfrm>
            <a:off x="1051084" y="4832271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System responds within a few seconds; dashboards and API endpoints handle concurrent requests efficiently.</a:t>
            </a:r>
            <a:endParaRPr b="0" i="0" sz="1750" u="none" cap="none" strike="noStrike"/>
          </a:p>
        </p:txBody>
      </p:sp>
      <p:sp>
        <p:nvSpPr>
          <p:cNvPr id="159" name="Google Shape;159;p26"/>
          <p:cNvSpPr/>
          <p:nvPr/>
        </p:nvSpPr>
        <p:spPr>
          <a:xfrm>
            <a:off x="7428548" y="3774877"/>
            <a:ext cx="6408063" cy="2040493"/>
          </a:xfrm>
          <a:prstGeom prst="roundRect">
            <a:avLst>
              <a:gd fmla="val 7170" name="adj"/>
            </a:avLst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7428548" y="3744397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10292298" y="343471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7685842" y="43418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Usability</a:t>
            </a:r>
            <a:endParaRPr b="0" i="0" sz="2200" u="none" cap="none" strike="noStrike"/>
          </a:p>
        </p:txBody>
      </p:sp>
      <p:sp>
        <p:nvSpPr>
          <p:cNvPr id="163" name="Google Shape;163;p26"/>
          <p:cNvSpPr/>
          <p:nvPr/>
        </p:nvSpPr>
        <p:spPr>
          <a:xfrm>
            <a:off x="7685842" y="4832271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Clear navigation, consistent UI patterns, and accessible controls for non-technical staff.</a:t>
            </a:r>
            <a:endParaRPr b="0" i="0" sz="1750" u="none" cap="none" strike="noStrike"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3894" y="7454876"/>
            <a:ext cx="2145956" cy="6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956905" y="537091"/>
            <a:ext cx="3685937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900"/>
              <a:buFont typeface="Libre Baskerville"/>
              <a:buNone/>
            </a:pPr>
            <a:r>
              <a:rPr b="0" i="0" lang="en-US" sz="29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Design</a:t>
            </a:r>
            <a:endParaRPr b="0" i="0" sz="2900" u="none" cap="none" strike="noStrike"/>
          </a:p>
        </p:txBody>
      </p:sp>
      <p:sp>
        <p:nvSpPr>
          <p:cNvPr id="171" name="Google Shape;171;p27"/>
          <p:cNvSpPr/>
          <p:nvPr/>
        </p:nvSpPr>
        <p:spPr>
          <a:xfrm>
            <a:off x="956905" y="3514606"/>
            <a:ext cx="2607588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1800"/>
              <a:buFont typeface="Libre Baskerville"/>
              <a:buNone/>
            </a:pPr>
            <a:r>
              <a:rPr b="0" i="0" lang="en-US" sz="18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Modular Components</a:t>
            </a:r>
            <a:endParaRPr b="0" i="0" sz="1800" u="none" cap="none" strike="noStrike"/>
          </a:p>
        </p:txBody>
      </p:sp>
      <p:sp>
        <p:nvSpPr>
          <p:cNvPr id="172" name="Google Shape;172;p27"/>
          <p:cNvSpPr/>
          <p:nvPr/>
        </p:nvSpPr>
        <p:spPr>
          <a:xfrm>
            <a:off x="956905" y="3952161"/>
            <a:ext cx="6133386" cy="1545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Frontend (React): dashboards, views, auth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Backend (APIs): business logic &amp; orchestration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ML Services: training, inference, model registry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Database: users, sales, metadata, feedback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Analytics Module: aggregation &amp; feature engineering</a:t>
            </a:r>
            <a:endParaRPr b="0" i="0" sz="1450" u="none" cap="none" strike="noStrike"/>
          </a:p>
        </p:txBody>
      </p:sp>
      <p:pic>
        <p:nvPicPr>
          <p:cNvPr descr="preencoded.png" id="173" name="Google Shape;1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491" y="1390769"/>
            <a:ext cx="6133386" cy="613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7723" y="7524152"/>
            <a:ext cx="1932677" cy="6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834628" y="533876"/>
            <a:ext cx="4361617" cy="4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28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950"/>
              <a:buFont typeface="Libre Baskerville"/>
              <a:buNone/>
            </a:pPr>
            <a:r>
              <a:rPr b="0" i="0" lang="en-US" sz="29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Architecture Overview</a:t>
            </a:r>
            <a:endParaRPr b="0" i="0" sz="2950" u="none" cap="none" strike="noStrike"/>
          </a:p>
        </p:txBody>
      </p:sp>
      <p:pic>
        <p:nvPicPr>
          <p:cNvPr descr="preencoded.png"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628" y="1314450"/>
            <a:ext cx="12961025" cy="593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/>
          <p:nvPr/>
        </p:nvSpPr>
        <p:spPr>
          <a:xfrm>
            <a:off x="10328644" y="2090931"/>
            <a:ext cx="2867123" cy="358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Layer</a:t>
            </a:r>
            <a:endParaRPr b="0" i="0" sz="2250" u="none" cap="none" strike="noStrike"/>
          </a:p>
        </p:txBody>
      </p:sp>
      <p:sp>
        <p:nvSpPr>
          <p:cNvPr id="183" name="Google Shape;183;p28"/>
          <p:cNvSpPr/>
          <p:nvPr/>
        </p:nvSpPr>
        <p:spPr>
          <a:xfrm>
            <a:off x="10328644" y="2551263"/>
            <a:ext cx="3160207" cy="524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Sales, users, and model stores</a:t>
            </a:r>
            <a:endParaRPr b="0" i="0" sz="1800" u="none" cap="none" strike="noStrike"/>
          </a:p>
        </p:txBody>
      </p:sp>
      <p:sp>
        <p:nvSpPr>
          <p:cNvPr id="184" name="Google Shape;184;p28"/>
          <p:cNvSpPr/>
          <p:nvPr/>
        </p:nvSpPr>
        <p:spPr>
          <a:xfrm>
            <a:off x="1179335" y="4040575"/>
            <a:ext cx="2867123" cy="358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 Services</a:t>
            </a:r>
            <a:endParaRPr b="0" i="0" sz="2250" u="none" cap="none" strike="noStrike"/>
          </a:p>
        </p:txBody>
      </p:sp>
      <p:sp>
        <p:nvSpPr>
          <p:cNvPr id="185" name="Google Shape;185;p28"/>
          <p:cNvSpPr/>
          <p:nvPr/>
        </p:nvSpPr>
        <p:spPr>
          <a:xfrm>
            <a:off x="1141107" y="4500907"/>
            <a:ext cx="2905351" cy="52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Business logic and ML processing</a:t>
            </a:r>
            <a:endParaRPr b="0" i="0" sz="1800" u="none" cap="none" strike="noStrike"/>
          </a:p>
        </p:txBody>
      </p:sp>
      <p:sp>
        <p:nvSpPr>
          <p:cNvPr id="186" name="Google Shape;186;p28"/>
          <p:cNvSpPr/>
          <p:nvPr/>
        </p:nvSpPr>
        <p:spPr>
          <a:xfrm>
            <a:off x="10328644" y="5178265"/>
            <a:ext cx="2867123" cy="3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</a:t>
            </a:r>
            <a:endParaRPr b="0" i="0" sz="2250" u="none" cap="none" strike="noStrike"/>
          </a:p>
        </p:txBody>
      </p:sp>
      <p:sp>
        <p:nvSpPr>
          <p:cNvPr id="187" name="Google Shape;187;p28"/>
          <p:cNvSpPr/>
          <p:nvPr/>
        </p:nvSpPr>
        <p:spPr>
          <a:xfrm>
            <a:off x="10328644" y="5638598"/>
            <a:ext cx="3160207" cy="262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React UI calling backend APIs</a:t>
            </a:r>
            <a:endParaRPr b="0" i="0" sz="1800" u="none" cap="none" strike="noStrike"/>
          </a:p>
        </p:txBody>
      </p:sp>
      <p:sp>
        <p:nvSpPr>
          <p:cNvPr id="188" name="Google Shape;188;p28"/>
          <p:cNvSpPr/>
          <p:nvPr/>
        </p:nvSpPr>
        <p:spPr>
          <a:xfrm>
            <a:off x="834628" y="7420928"/>
            <a:ext cx="12961025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Client-server model with separation of presentation, logic, and data layers to ensure maintainability and horizontal scalability.</a:t>
            </a:r>
            <a:endParaRPr b="0" i="0" sz="1450" u="none" cap="none" strike="noStrike"/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87255" y="7420925"/>
            <a:ext cx="2251846" cy="7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/>
          <p:nvPr/>
        </p:nvSpPr>
        <p:spPr>
          <a:xfrm>
            <a:off x="793790" y="268307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1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Architecture Style</a:t>
            </a:r>
            <a:endParaRPr b="0" i="0" sz="4450" u="none" cap="none" strike="noStrike"/>
          </a:p>
        </p:txBody>
      </p:sp>
      <p:sp>
        <p:nvSpPr>
          <p:cNvPr id="197" name="Google Shape;197;p29"/>
          <p:cNvSpPr/>
          <p:nvPr/>
        </p:nvSpPr>
        <p:spPr>
          <a:xfrm>
            <a:off x="793790" y="3732014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RetailIQ system follows a </a:t>
            </a: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Client-Server Architecture combined with Layered Architecture</a:t>
            </a: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to ensure modularity, maintainability, and scalability. This architectural approach enables efficient communication between users and the system while organizing the internal functionalities into structured layers.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719376" y="1993821"/>
            <a:ext cx="8665607" cy="513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200"/>
              <a:buFont typeface="Libre Baskerville"/>
              <a:buNone/>
            </a:pPr>
            <a:r>
              <a:rPr b="0" i="0" lang="en-US" sz="3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 — Interface Screenshots</a:t>
            </a:r>
            <a:endParaRPr b="0" i="0" sz="3200" u="none" cap="none" strike="noStrike"/>
          </a:p>
        </p:txBody>
      </p:sp>
      <p:sp>
        <p:nvSpPr>
          <p:cNvPr id="204" name="Google Shape;204;p30"/>
          <p:cNvSpPr/>
          <p:nvPr/>
        </p:nvSpPr>
        <p:spPr>
          <a:xfrm>
            <a:off x="719376" y="2880241"/>
            <a:ext cx="13191649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Screenshots of implemented system interfaces</a:t>
            </a:r>
            <a:endParaRPr b="0" i="0" sz="1600" u="none" cap="none" strike="noStrike"/>
          </a:p>
        </p:txBody>
      </p:sp>
      <p:pic>
        <p:nvPicPr>
          <p:cNvPr descr="preencoded.png"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96" y="3536275"/>
            <a:ext cx="2503646" cy="2503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067" y="3536275"/>
            <a:ext cx="2503765" cy="250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3258" y="3536275"/>
            <a:ext cx="2503765" cy="250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1448" y="3536275"/>
            <a:ext cx="2503765" cy="250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99639" y="3536275"/>
            <a:ext cx="2503765" cy="250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35425" y="7388605"/>
            <a:ext cx="2293225" cy="7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/>
          <p:nvPr/>
        </p:nvSpPr>
        <p:spPr>
          <a:xfrm>
            <a:off x="793790" y="114931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Implmentation </a:t>
            </a:r>
            <a:endParaRPr b="0" i="0" sz="4450" u="none" cap="none" strike="noStrike"/>
          </a:p>
        </p:txBody>
      </p:sp>
      <p:pic>
        <p:nvPicPr>
          <p:cNvPr descr="preencoded.png"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53402"/>
            <a:ext cx="6244709" cy="322349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/>
          <p:nvPr/>
        </p:nvSpPr>
        <p:spPr>
          <a:xfrm>
            <a:off x="793790" y="593205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Home Page</a:t>
            </a:r>
            <a:endParaRPr b="0" i="0" sz="2200" u="none" cap="none" strike="noStrike"/>
          </a:p>
        </p:txBody>
      </p:sp>
      <p:sp>
        <p:nvSpPr>
          <p:cNvPr id="219" name="Google Shape;219;p31"/>
          <p:cNvSpPr/>
          <p:nvPr/>
        </p:nvSpPr>
        <p:spPr>
          <a:xfrm>
            <a:off x="793790" y="651319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20" name="Google Shape;2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453402"/>
            <a:ext cx="6244709" cy="31726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/>
          <p:nvPr/>
        </p:nvSpPr>
        <p:spPr>
          <a:xfrm>
            <a:off x="7599521" y="58812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About U</a:t>
            </a:r>
            <a:r>
              <a:rPr lang="en-US" sz="22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endParaRPr b="0" i="0" sz="2200" u="none" cap="none" strike="noStrike"/>
          </a:p>
        </p:txBody>
      </p:sp>
      <p:sp>
        <p:nvSpPr>
          <p:cNvPr id="222" name="Google Shape;222;p31"/>
          <p:cNvSpPr/>
          <p:nvPr/>
        </p:nvSpPr>
        <p:spPr>
          <a:xfrm>
            <a:off x="7599521" y="646235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75327" y="7448050"/>
            <a:ext cx="2235446" cy="7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/>
          <p:nvPr/>
        </p:nvSpPr>
        <p:spPr>
          <a:xfrm>
            <a:off x="793790" y="113157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 </a:t>
            </a:r>
            <a:endParaRPr b="0" i="0" sz="4450" u="none" cap="none" strike="noStrike"/>
          </a:p>
        </p:txBody>
      </p:sp>
      <p:pic>
        <p:nvPicPr>
          <p:cNvPr descr="preencoded.png" id="230" name="Google Shape;23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35662"/>
            <a:ext cx="6244709" cy="325909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/>
          <p:nvPr/>
        </p:nvSpPr>
        <p:spPr>
          <a:xfrm>
            <a:off x="793790" y="594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Create Account</a:t>
            </a:r>
            <a:endParaRPr b="0" i="0" sz="2200" u="none" cap="none" strike="noStrike"/>
          </a:p>
        </p:txBody>
      </p:sp>
      <p:sp>
        <p:nvSpPr>
          <p:cNvPr id="232" name="Google Shape;232;p32"/>
          <p:cNvSpPr/>
          <p:nvPr/>
        </p:nvSpPr>
        <p:spPr>
          <a:xfrm>
            <a:off x="793790" y="653105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33" name="Google Shape;23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435662"/>
            <a:ext cx="6244709" cy="32065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/>
          <p:nvPr/>
        </p:nvSpPr>
        <p:spPr>
          <a:xfrm>
            <a:off x="7599521" y="58974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Login</a:t>
            </a:r>
            <a:endParaRPr b="0" i="0" sz="2200" u="none" cap="none" strike="noStrike"/>
          </a:p>
        </p:txBody>
      </p:sp>
      <p:sp>
        <p:nvSpPr>
          <p:cNvPr id="235" name="Google Shape;235;p32"/>
          <p:cNvSpPr/>
          <p:nvPr/>
        </p:nvSpPr>
        <p:spPr>
          <a:xfrm>
            <a:off x="7599521" y="64785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29999" y="7564800"/>
            <a:ext cx="1918350" cy="6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/>
          <p:nvPr/>
        </p:nvSpPr>
        <p:spPr>
          <a:xfrm>
            <a:off x="793790" y="120669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</a:t>
            </a:r>
            <a:endParaRPr b="0" i="0" sz="4450" u="none" cap="none" strike="noStrike"/>
          </a:p>
        </p:txBody>
      </p:sp>
      <p:pic>
        <p:nvPicPr>
          <p:cNvPr descr="preencoded.png" id="243" name="Google Shape;24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10790"/>
            <a:ext cx="6244709" cy="305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/>
          <p:nvPr/>
        </p:nvSpPr>
        <p:spPr>
          <a:xfrm>
            <a:off x="793790" y="58190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Dash Board</a:t>
            </a:r>
            <a:endParaRPr b="0" i="0" sz="2200" u="none" cap="none" strike="noStrike"/>
          </a:p>
        </p:txBody>
      </p:sp>
      <p:sp>
        <p:nvSpPr>
          <p:cNvPr id="245" name="Google Shape;245;p33"/>
          <p:cNvSpPr/>
          <p:nvPr/>
        </p:nvSpPr>
        <p:spPr>
          <a:xfrm>
            <a:off x="793790" y="640020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46" name="Google Shape;24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510790"/>
            <a:ext cx="6244709" cy="31088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/>
          <p:nvPr/>
        </p:nvSpPr>
        <p:spPr>
          <a:xfrm>
            <a:off x="7599521" y="58747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Sales</a:t>
            </a:r>
            <a:endParaRPr b="0" i="0" sz="2200" u="none" cap="none" strike="noStrike"/>
          </a:p>
        </p:txBody>
      </p:sp>
      <p:sp>
        <p:nvSpPr>
          <p:cNvPr id="248" name="Google Shape;248;p33"/>
          <p:cNvSpPr/>
          <p:nvPr/>
        </p:nvSpPr>
        <p:spPr>
          <a:xfrm>
            <a:off x="7599521" y="645592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49" name="Google Shape;24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74483" y="7441648"/>
            <a:ext cx="2235367" cy="7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>
            <a:off x="793790" y="12282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</a:t>
            </a:r>
            <a:endParaRPr b="0" i="0" sz="4450" u="none" cap="none" strike="noStrike"/>
          </a:p>
        </p:txBody>
      </p:sp>
      <p:pic>
        <p:nvPicPr>
          <p:cNvPr descr="preencoded.png" id="256" name="Google Shape;2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32340"/>
            <a:ext cx="6244709" cy="306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/>
          <p:nvPr/>
        </p:nvSpPr>
        <p:spPr>
          <a:xfrm>
            <a:off x="793790" y="58532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Forecasting </a:t>
            </a:r>
            <a:endParaRPr b="0" i="0" sz="2200" u="none" cap="none" strike="noStrike"/>
          </a:p>
        </p:txBody>
      </p:sp>
      <p:sp>
        <p:nvSpPr>
          <p:cNvPr id="258" name="Google Shape;258;p34"/>
          <p:cNvSpPr/>
          <p:nvPr/>
        </p:nvSpPr>
        <p:spPr>
          <a:xfrm>
            <a:off x="793790" y="64343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59" name="Google Shape;2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532340"/>
            <a:ext cx="6244709" cy="301418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/>
          <p:nvPr/>
        </p:nvSpPr>
        <p:spPr>
          <a:xfrm>
            <a:off x="7599521" y="58016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 Products</a:t>
            </a:r>
            <a:endParaRPr b="0" i="0" sz="2200" u="none" cap="none" strike="noStrike"/>
          </a:p>
        </p:txBody>
      </p:sp>
      <p:sp>
        <p:nvSpPr>
          <p:cNvPr id="261" name="Google Shape;261;p34"/>
          <p:cNvSpPr/>
          <p:nvPr/>
        </p:nvSpPr>
        <p:spPr>
          <a:xfrm>
            <a:off x="7599521" y="638282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62" name="Google Shape;26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48698" y="7582024"/>
            <a:ext cx="2042352" cy="6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793790" y="129432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</a:t>
            </a:r>
            <a:endParaRPr b="0" i="0" sz="4450" u="none" cap="none" strike="noStrike"/>
          </a:p>
        </p:txBody>
      </p:sp>
      <p:pic>
        <p:nvPicPr>
          <p:cNvPr descr="preencoded.png" id="269" name="Google Shape;2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98420"/>
            <a:ext cx="6244709" cy="293346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/>
          <p:nvPr/>
        </p:nvSpPr>
        <p:spPr>
          <a:xfrm>
            <a:off x="793790" y="57870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News/Insights </a:t>
            </a:r>
            <a:endParaRPr b="0" i="0" sz="2200" u="none" cap="none" strike="noStrike"/>
          </a:p>
        </p:txBody>
      </p:sp>
      <p:sp>
        <p:nvSpPr>
          <p:cNvPr id="271" name="Google Shape;271;p35"/>
          <p:cNvSpPr/>
          <p:nvPr/>
        </p:nvSpPr>
        <p:spPr>
          <a:xfrm>
            <a:off x="793790" y="636817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72" name="Google Shape;2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598420"/>
            <a:ext cx="6244709" cy="290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7599521" y="57611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Announcements </a:t>
            </a:r>
            <a:endParaRPr b="0" i="0" sz="2200" u="none" cap="none" strike="noStrike"/>
          </a:p>
        </p:txBody>
      </p:sp>
      <p:sp>
        <p:nvSpPr>
          <p:cNvPr id="274" name="Google Shape;274;p35"/>
          <p:cNvSpPr/>
          <p:nvPr/>
        </p:nvSpPr>
        <p:spPr>
          <a:xfrm>
            <a:off x="7599521" y="634234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75" name="Google Shape;27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34065" y="7541549"/>
            <a:ext cx="1856985" cy="5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793790" y="119395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</a:t>
            </a:r>
            <a:endParaRPr b="0" i="0" sz="4450" u="none" cap="none" strike="noStrike"/>
          </a:p>
        </p:txBody>
      </p:sp>
      <p:pic>
        <p:nvPicPr>
          <p:cNvPr descr="preencoded.png" id="282" name="Google Shape;2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98050"/>
            <a:ext cx="6244709" cy="29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6"/>
          <p:cNvSpPr/>
          <p:nvPr/>
        </p:nvSpPr>
        <p:spPr>
          <a:xfrm>
            <a:off x="793790" y="57148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Feedback </a:t>
            </a:r>
            <a:endParaRPr b="0" i="0" sz="2200" u="none" cap="none" strike="noStrike"/>
          </a:p>
        </p:txBody>
      </p:sp>
      <p:sp>
        <p:nvSpPr>
          <p:cNvPr id="284" name="Google Shape;284;p36"/>
          <p:cNvSpPr/>
          <p:nvPr/>
        </p:nvSpPr>
        <p:spPr>
          <a:xfrm>
            <a:off x="793790" y="629602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85" name="Google Shape;28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2498050"/>
            <a:ext cx="6244709" cy="3134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7599521" y="58874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Help &amp; User Guide</a:t>
            </a:r>
            <a:endParaRPr b="0" i="0" sz="2200" u="none" cap="none" strike="noStrike"/>
          </a:p>
        </p:txBody>
      </p:sp>
      <p:sp>
        <p:nvSpPr>
          <p:cNvPr id="287" name="Google Shape;287;p36"/>
          <p:cNvSpPr/>
          <p:nvPr/>
        </p:nvSpPr>
        <p:spPr>
          <a:xfrm>
            <a:off x="7599521" y="6468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5150" y="7590825"/>
            <a:ext cx="1804700" cy="5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793790" y="136600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 </a:t>
            </a:r>
            <a:endParaRPr b="0" i="0" sz="4450" u="none" cap="none" strike="noStrike"/>
          </a:p>
        </p:txBody>
      </p:sp>
      <p:pic>
        <p:nvPicPr>
          <p:cNvPr descr="preencoded.png" id="295" name="Google Shape;2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70096"/>
            <a:ext cx="6244709" cy="279011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/>
          <p:nvPr/>
        </p:nvSpPr>
        <p:spPr>
          <a:xfrm>
            <a:off x="793790" y="5715357"/>
            <a:ext cx="39814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Recommendations</a:t>
            </a:r>
            <a:endParaRPr b="0" i="0" sz="2200" u="none" cap="none" strike="noStrike"/>
          </a:p>
        </p:txBody>
      </p:sp>
      <p:sp>
        <p:nvSpPr>
          <p:cNvPr id="297" name="Google Shape;297;p37"/>
          <p:cNvSpPr/>
          <p:nvPr/>
        </p:nvSpPr>
        <p:spPr>
          <a:xfrm>
            <a:off x="793790" y="629650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298" name="Google Shape;298;p37"/>
          <p:cNvSpPr/>
          <p:nvPr/>
        </p:nvSpPr>
        <p:spPr>
          <a:xfrm>
            <a:off x="7599521" y="26417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 cap="none" strike="noStrike"/>
          </a:p>
        </p:txBody>
      </p:sp>
      <p:sp>
        <p:nvSpPr>
          <p:cNvPr id="299" name="Google Shape;299;p37"/>
          <p:cNvSpPr/>
          <p:nvPr/>
        </p:nvSpPr>
        <p:spPr>
          <a:xfrm>
            <a:off x="7599521" y="3222903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system has been successfully implemented with all core functionalities integrated, resulting in a fully functional and user-friendly RetailIQ platform.</a:t>
            </a:r>
            <a:endParaRPr b="0" i="0" sz="1750" u="none" cap="none" strike="noStrike"/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8175" y="7617072"/>
            <a:ext cx="1931850" cy="6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/>
          <p:nvPr/>
        </p:nvSpPr>
        <p:spPr>
          <a:xfrm>
            <a:off x="793790" y="2593896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50"/>
              <a:buFont typeface="Libre Baskerville"/>
              <a:buNone/>
            </a:pPr>
            <a:r>
              <a:rPr b="0" i="0" lang="en-US" sz="35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Work Division</a:t>
            </a:r>
            <a:endParaRPr b="0" i="0" sz="3550" u="none" cap="none" strike="noStrike"/>
          </a:p>
        </p:txBody>
      </p:sp>
      <p:sp>
        <p:nvSpPr>
          <p:cNvPr id="307" name="Google Shape;307;p38"/>
          <p:cNvSpPr/>
          <p:nvPr/>
        </p:nvSpPr>
        <p:spPr>
          <a:xfrm>
            <a:off x="793790" y="37278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Ayesha Khalid</a:t>
            </a:r>
            <a:endParaRPr b="0" i="0" sz="2200" u="none" cap="none" strike="noStrike"/>
          </a:p>
        </p:txBody>
      </p:sp>
      <p:sp>
        <p:nvSpPr>
          <p:cNvPr id="308" name="Google Shape;308;p38"/>
          <p:cNvSpPr/>
          <p:nvPr/>
        </p:nvSpPr>
        <p:spPr>
          <a:xfrm>
            <a:off x="793790" y="4308991"/>
            <a:ext cx="6244709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Machine Learning: EDA, model training, forecasting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Backend API development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API testing (Postman) &amp; technical documentation</a:t>
            </a:r>
            <a:endParaRPr b="0" i="0" sz="1750" u="none" cap="none" strike="noStrike"/>
          </a:p>
        </p:txBody>
      </p:sp>
      <p:sp>
        <p:nvSpPr>
          <p:cNvPr id="309" name="Google Shape;309;p38"/>
          <p:cNvSpPr/>
          <p:nvPr/>
        </p:nvSpPr>
        <p:spPr>
          <a:xfrm>
            <a:off x="7599521" y="37278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Uma E Rubab</a:t>
            </a:r>
            <a:endParaRPr b="0" i="0" sz="2200" u="none" cap="none" strike="noStrike"/>
          </a:p>
        </p:txBody>
      </p:sp>
      <p:sp>
        <p:nvSpPr>
          <p:cNvPr id="310" name="Google Shape;310;p38"/>
          <p:cNvSpPr/>
          <p:nvPr/>
        </p:nvSpPr>
        <p:spPr>
          <a:xfrm>
            <a:off x="7599521" y="4308991"/>
            <a:ext cx="6244709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Frontend development (all pages) &amp; UI/UX design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Integration of frontend with backend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Char char="•"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System-level testing and user flows</a:t>
            </a:r>
            <a:endParaRPr b="0" i="0" sz="1750" u="none" cap="none" strike="noStrike"/>
          </a:p>
        </p:txBody>
      </p:sp>
      <p:pic>
        <p:nvPicPr>
          <p:cNvPr id="311" name="Google Shape;3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8350" y="7579503"/>
            <a:ext cx="2050275" cy="6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1201460" y="487323"/>
            <a:ext cx="5447109" cy="443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750"/>
              <a:buFont typeface="Libre Baskerville"/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Lessons Learned &amp; Takeaways</a:t>
            </a:r>
            <a:endParaRPr b="0" i="0" sz="2750" u="none" cap="none" strike="noStrike"/>
          </a:p>
        </p:txBody>
      </p:sp>
      <p:sp>
        <p:nvSpPr>
          <p:cNvPr id="318" name="Google Shape;318;p39"/>
          <p:cNvSpPr/>
          <p:nvPr/>
        </p:nvSpPr>
        <p:spPr>
          <a:xfrm>
            <a:off x="1201460" y="1207175"/>
            <a:ext cx="708779" cy="1063228"/>
          </a:xfrm>
          <a:prstGeom prst="roundRect">
            <a:avLst>
              <a:gd fmla="val 36003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9"/>
          <p:cNvSpPr/>
          <p:nvPr/>
        </p:nvSpPr>
        <p:spPr>
          <a:xfrm>
            <a:off x="2048589" y="1384340"/>
            <a:ext cx="3397806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Libre Baskerville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Teamwork &amp; Communication</a:t>
            </a:r>
            <a:endParaRPr b="0" i="0" sz="1700" u="none" cap="none" strike="noStrike"/>
          </a:p>
        </p:txBody>
      </p:sp>
      <p:sp>
        <p:nvSpPr>
          <p:cNvPr id="320" name="Google Shape;320;p39"/>
          <p:cNvSpPr/>
          <p:nvPr/>
        </p:nvSpPr>
        <p:spPr>
          <a:xfrm>
            <a:off x="2048589" y="1744147"/>
            <a:ext cx="1138023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Regular syncs and clear task ownership kept progress steady.</a:t>
            </a:r>
            <a:endParaRPr b="0" i="0" sz="1350" u="none" cap="none" strike="noStrike"/>
          </a:p>
        </p:txBody>
      </p:sp>
      <p:sp>
        <p:nvSpPr>
          <p:cNvPr id="321" name="Google Shape;321;p39"/>
          <p:cNvSpPr/>
          <p:nvPr/>
        </p:nvSpPr>
        <p:spPr>
          <a:xfrm>
            <a:off x="1201460" y="2408753"/>
            <a:ext cx="708779" cy="1063228"/>
          </a:xfrm>
          <a:prstGeom prst="roundRect">
            <a:avLst>
              <a:gd fmla="val 36003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2048589" y="2585918"/>
            <a:ext cx="2215039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Libre Baskerville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Adaptability</a:t>
            </a:r>
            <a:endParaRPr b="0" i="0" sz="1700" u="none" cap="none" strike="noStrike"/>
          </a:p>
        </p:txBody>
      </p:sp>
      <p:sp>
        <p:nvSpPr>
          <p:cNvPr id="323" name="Google Shape;323;p39"/>
          <p:cNvSpPr/>
          <p:nvPr/>
        </p:nvSpPr>
        <p:spPr>
          <a:xfrm>
            <a:off x="2048589" y="2945725"/>
            <a:ext cx="1138023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Flexible approaches helped handle data and scope changes.</a:t>
            </a:r>
            <a:endParaRPr b="0" i="0" sz="1350" u="none" cap="none" strike="noStrike"/>
          </a:p>
        </p:txBody>
      </p:sp>
      <p:sp>
        <p:nvSpPr>
          <p:cNvPr id="324" name="Google Shape;324;p39"/>
          <p:cNvSpPr/>
          <p:nvPr/>
        </p:nvSpPr>
        <p:spPr>
          <a:xfrm>
            <a:off x="1201460" y="3610332"/>
            <a:ext cx="708779" cy="1063228"/>
          </a:xfrm>
          <a:prstGeom prst="roundRect">
            <a:avLst>
              <a:gd fmla="val 36003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9"/>
          <p:cNvSpPr/>
          <p:nvPr/>
        </p:nvSpPr>
        <p:spPr>
          <a:xfrm>
            <a:off x="2048589" y="3787497"/>
            <a:ext cx="2433161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Libre Baskerville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Division by Strengths</a:t>
            </a:r>
            <a:endParaRPr b="0" i="0" sz="1700" u="none" cap="none" strike="noStrike"/>
          </a:p>
        </p:txBody>
      </p:sp>
      <p:sp>
        <p:nvSpPr>
          <p:cNvPr id="326" name="Google Shape;326;p39"/>
          <p:cNvSpPr/>
          <p:nvPr/>
        </p:nvSpPr>
        <p:spPr>
          <a:xfrm>
            <a:off x="2048589" y="4147304"/>
            <a:ext cx="1138023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Assigning tasks based on expertise improved quality and speed.</a:t>
            </a:r>
            <a:endParaRPr b="0" i="0" sz="1350" u="none" cap="none" strike="noStrike"/>
          </a:p>
        </p:txBody>
      </p:sp>
      <p:sp>
        <p:nvSpPr>
          <p:cNvPr id="327" name="Google Shape;327;p39"/>
          <p:cNvSpPr/>
          <p:nvPr/>
        </p:nvSpPr>
        <p:spPr>
          <a:xfrm>
            <a:off x="1201460" y="4811911"/>
            <a:ext cx="708779" cy="1063228"/>
          </a:xfrm>
          <a:prstGeom prst="roundRect">
            <a:avLst>
              <a:gd fmla="val 36003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/>
          <p:nvPr/>
        </p:nvSpPr>
        <p:spPr>
          <a:xfrm>
            <a:off x="2048589" y="4989076"/>
            <a:ext cx="2215039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Libre Baskerville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Integration Focus</a:t>
            </a:r>
            <a:endParaRPr b="0" i="0" sz="1700" u="none" cap="none" strike="noStrike"/>
          </a:p>
        </p:txBody>
      </p:sp>
      <p:sp>
        <p:nvSpPr>
          <p:cNvPr id="329" name="Google Shape;329;p39"/>
          <p:cNvSpPr/>
          <p:nvPr/>
        </p:nvSpPr>
        <p:spPr>
          <a:xfrm>
            <a:off x="2048589" y="5348883"/>
            <a:ext cx="1138023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Early end-to-end testing prevented late-stage integration issues.</a:t>
            </a:r>
            <a:endParaRPr b="0" i="0" sz="1350" u="none" cap="none" strike="noStrike"/>
          </a:p>
        </p:txBody>
      </p:sp>
      <p:sp>
        <p:nvSpPr>
          <p:cNvPr id="330" name="Google Shape;330;p39"/>
          <p:cNvSpPr/>
          <p:nvPr/>
        </p:nvSpPr>
        <p:spPr>
          <a:xfrm>
            <a:off x="1201460" y="6013490"/>
            <a:ext cx="708779" cy="1063228"/>
          </a:xfrm>
          <a:prstGeom prst="roundRect">
            <a:avLst>
              <a:gd fmla="val 36003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"/>
          <p:cNvSpPr/>
          <p:nvPr/>
        </p:nvSpPr>
        <p:spPr>
          <a:xfrm>
            <a:off x="2048589" y="6190655"/>
            <a:ext cx="2215039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Libre Baskerville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Supportive Culture</a:t>
            </a:r>
            <a:endParaRPr b="0" i="0" sz="1700" u="none" cap="none" strike="noStrike"/>
          </a:p>
        </p:txBody>
      </p:sp>
      <p:sp>
        <p:nvSpPr>
          <p:cNvPr id="332" name="Google Shape;332;p39"/>
          <p:cNvSpPr/>
          <p:nvPr/>
        </p:nvSpPr>
        <p:spPr>
          <a:xfrm>
            <a:off x="2048589" y="6550462"/>
            <a:ext cx="1138023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Empathy and collaboration contributed to project success.</a:t>
            </a:r>
            <a:endParaRPr b="0" i="0" sz="1350" u="none" cap="none" strike="noStrike"/>
          </a:p>
        </p:txBody>
      </p:sp>
      <p:sp>
        <p:nvSpPr>
          <p:cNvPr id="333" name="Google Shape;333;p39"/>
          <p:cNvSpPr/>
          <p:nvPr/>
        </p:nvSpPr>
        <p:spPr>
          <a:xfrm>
            <a:off x="1201460" y="7276743"/>
            <a:ext cx="12227362" cy="13216"/>
          </a:xfrm>
          <a:prstGeom prst="rect">
            <a:avLst/>
          </a:prstGeom>
          <a:solidFill>
            <a:srgbClr val="45424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9"/>
          <p:cNvSpPr/>
          <p:nvPr/>
        </p:nvSpPr>
        <p:spPr>
          <a:xfrm>
            <a:off x="1201460" y="7489984"/>
            <a:ext cx="1222736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Next steps: pilot with a partner store, monitor model drift, and iterate on automation for near-real-time data ingestion.</a:t>
            </a:r>
            <a:endParaRPr b="0" i="0" sz="1350" u="none" cap="none" strike="noStrike"/>
          </a:p>
        </p:txBody>
      </p:sp>
      <p:pic>
        <p:nvPicPr>
          <p:cNvPr id="335" name="Google Shape;3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9618" y="7489975"/>
            <a:ext cx="2005058" cy="63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 :)</a:t>
            </a:r>
            <a:endParaRPr b="0" i="0" sz="4450" u="none" cap="none" strike="noStrike"/>
          </a:p>
        </p:txBody>
      </p:sp>
      <p:pic>
        <p:nvPicPr>
          <p:cNvPr id="342" name="Google Shape;3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4206" y="7416975"/>
            <a:ext cx="2235367" cy="7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